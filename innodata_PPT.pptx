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sldIdLst>
    <p:sldId id="256" r:id="rId2"/>
    <p:sldId id="257" r:id="rId3"/>
    <p:sldId id="260" r:id="rId4"/>
    <p:sldId id="277" r:id="rId5"/>
    <p:sldId id="261" r:id="rId6"/>
    <p:sldId id="258" r:id="rId7"/>
    <p:sldId id="259" r:id="rId8"/>
    <p:sldId id="273" r:id="rId9"/>
    <p:sldId id="274" r:id="rId10"/>
    <p:sldId id="276" r:id="rId11"/>
    <p:sldId id="275" r:id="rId12"/>
    <p:sldId id="262" r:id="rId13"/>
    <p:sldId id="265" r:id="rId14"/>
    <p:sldId id="264" r:id="rId15"/>
    <p:sldId id="263" r:id="rId16"/>
    <p:sldId id="266" r:id="rId17"/>
    <p:sldId id="268" r:id="rId18"/>
    <p:sldId id="267" r:id="rId19"/>
    <p:sldId id="269" r:id="rId20"/>
    <p:sldId id="270" r:id="rId21"/>
    <p:sldId id="271" r:id="rId22"/>
    <p:sldId id="278" r:id="rId23"/>
    <p:sldId id="279" r:id="rId24"/>
    <p:sldId id="27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thin Kumar Nallikala" initials="NKN" lastIdx="1" clrIdx="0">
    <p:extLst>
      <p:ext uri="{19B8F6BF-5375-455C-9EA6-DF929625EA0E}">
        <p15:presenceInfo xmlns:p15="http://schemas.microsoft.com/office/powerpoint/2012/main" userId="c18b9b3722510d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2"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71A390-B7AC-4887-A2C2-982F7C1C2AE0}"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1630273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71A390-B7AC-4887-A2C2-982F7C1C2AE0}"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3982520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71A390-B7AC-4887-A2C2-982F7C1C2AE0}"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199712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71A390-B7AC-4887-A2C2-982F7C1C2AE0}"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4048488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71A390-B7AC-4887-A2C2-982F7C1C2AE0}" type="datetimeFigureOut">
              <a:rPr lang="en-IN" smtClean="0"/>
              <a:t>23-11-2025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717288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71A390-B7AC-4887-A2C2-982F7C1C2AE0}"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562950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E71A390-B7AC-4887-A2C2-982F7C1C2AE0}" type="datetimeFigureOut">
              <a:rPr lang="en-IN" smtClean="0"/>
              <a:t>23-11-2025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953015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71A390-B7AC-4887-A2C2-982F7C1C2AE0}"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4040106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71A390-B7AC-4887-A2C2-982F7C1C2AE0}"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3137748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71A390-B7AC-4887-A2C2-982F7C1C2AE0}"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981489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71A390-B7AC-4887-A2C2-982F7C1C2AE0}"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709011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71A390-B7AC-4887-A2C2-982F7C1C2AE0}"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4660A4-FD21-43F7-AE09-2AB4DD025257}"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71576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71A390-B7AC-4887-A2C2-982F7C1C2AE0}"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34113385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E71A390-B7AC-4887-A2C2-982F7C1C2AE0}"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329365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E71A390-B7AC-4887-A2C2-982F7C1C2AE0}"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967696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71A390-B7AC-4887-A2C2-982F7C1C2AE0}"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741917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71A390-B7AC-4887-A2C2-982F7C1C2AE0}"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5004891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71A390-B7AC-4887-A2C2-982F7C1C2AE0}"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4660A4-FD21-43F7-AE09-2AB4DD025257}" type="slidenum">
              <a:rPr lang="en-IN" smtClean="0"/>
              <a:t>‹#›</a:t>
            </a:fld>
            <a:endParaRPr lang="en-IN"/>
          </a:p>
        </p:txBody>
      </p:sp>
    </p:spTree>
    <p:extLst>
      <p:ext uri="{BB962C8B-B14F-4D97-AF65-F5344CB8AC3E}">
        <p14:creationId xmlns:p14="http://schemas.microsoft.com/office/powerpoint/2010/main" val="2661219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E71A390-B7AC-4887-A2C2-982F7C1C2AE0}" type="datetimeFigureOut">
              <a:rPr lang="en-IN" smtClean="0"/>
              <a:t>23-11-2025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0A4660A4-FD21-43F7-AE09-2AB4DD025257}" type="slidenum">
              <a:rPr lang="en-IN" smtClean="0"/>
              <a:t>‹#›</a:t>
            </a:fld>
            <a:endParaRPr lang="en-IN"/>
          </a:p>
        </p:txBody>
      </p:sp>
    </p:spTree>
    <p:extLst>
      <p:ext uri="{BB962C8B-B14F-4D97-AF65-F5344CB8AC3E}">
        <p14:creationId xmlns:p14="http://schemas.microsoft.com/office/powerpoint/2010/main" val="158520155"/>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code.visualstudio.com/download"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jfif"/></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0B768B-DD25-4785-92F7-3E60BCFA7AB7}"/>
              </a:ext>
            </a:extLst>
          </p:cNvPr>
          <p:cNvSpPr txBox="1"/>
          <p:nvPr/>
        </p:nvSpPr>
        <p:spPr>
          <a:xfrm>
            <a:off x="251790" y="198596"/>
            <a:ext cx="11489636" cy="2536848"/>
          </a:xfrm>
          <a:prstGeom prst="rect">
            <a:avLst/>
          </a:prstGeom>
          <a:noFill/>
        </p:spPr>
        <p:txBody>
          <a:bodyPr wrap="square" rtlCol="0">
            <a:spAutoFit/>
          </a:bodyPr>
          <a:lstStyle/>
          <a:p>
            <a:pPr algn="ctr">
              <a:lnSpc>
                <a:spcPct val="107000"/>
              </a:lnSpc>
              <a:spcAft>
                <a:spcPts val="800"/>
              </a:spcAft>
            </a:pPr>
            <a:r>
              <a:rPr lang="en-US" sz="3600" b="1" kern="100" dirty="0">
                <a:effectLst/>
                <a:latin typeface="Times New Roman" panose="02020603050405020304" pitchFamily="18" charset="0"/>
                <a:ea typeface="Calibri" panose="020F0502020204030204" pitchFamily="34" charset="0"/>
                <a:cs typeface="Times New Roman" panose="02020603050405020304" pitchFamily="18" charset="0"/>
              </a:rPr>
              <a:t>“BUILDING VISUALIZED AND INTERCTIVE SALES DASHBOARD USING</a:t>
            </a:r>
          </a:p>
          <a:p>
            <a:pPr algn="ctr">
              <a:lnSpc>
                <a:spcPct val="107000"/>
              </a:lnSpc>
              <a:spcAft>
                <a:spcPts val="800"/>
              </a:spcAft>
            </a:pPr>
            <a:r>
              <a:rPr lang="en-US" sz="3600" b="1" kern="100" dirty="0">
                <a:effectLst/>
                <a:latin typeface="Times New Roman" panose="02020603050405020304" pitchFamily="18" charset="0"/>
                <a:ea typeface="Calibri" panose="020F0502020204030204" pitchFamily="34" charset="0"/>
                <a:cs typeface="Times New Roman" panose="02020603050405020304" pitchFamily="18" charset="0"/>
              </a:rPr>
              <a:t> JAVASCRIPT, HTML, CSS TECHNOLOGIES AT INNODATATICS PVT LTD”</a:t>
            </a:r>
            <a:endParaRPr lang="en-IN"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University of Hyderabad - Wikipedia">
            <a:extLst>
              <a:ext uri="{FF2B5EF4-FFF2-40B4-BE49-F238E27FC236}">
                <a16:creationId xmlns:a16="http://schemas.microsoft.com/office/drawing/2014/main" id="{9305F086-9B93-4821-BA6D-B69A178938A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810539" y="2735444"/>
            <a:ext cx="1948071" cy="1834104"/>
          </a:xfrm>
          <a:prstGeom prst="rect">
            <a:avLst/>
          </a:prstGeom>
          <a:noFill/>
          <a:ln>
            <a:noFill/>
          </a:ln>
        </p:spPr>
      </p:pic>
      <p:sp>
        <p:nvSpPr>
          <p:cNvPr id="2" name="TextBox 1">
            <a:extLst>
              <a:ext uri="{FF2B5EF4-FFF2-40B4-BE49-F238E27FC236}">
                <a16:creationId xmlns:a16="http://schemas.microsoft.com/office/drawing/2014/main" id="{20755971-CA36-4B03-9B38-532E448646F1}"/>
              </a:ext>
            </a:extLst>
          </p:cNvPr>
          <p:cNvSpPr txBox="1"/>
          <p:nvPr/>
        </p:nvSpPr>
        <p:spPr>
          <a:xfrm>
            <a:off x="2478155" y="4611231"/>
            <a:ext cx="7845287" cy="2246769"/>
          </a:xfrm>
          <a:prstGeom prst="rect">
            <a:avLst/>
          </a:prstGeom>
          <a:noFill/>
        </p:spPr>
        <p:txBody>
          <a:bodyPr wrap="square" rtlCol="0">
            <a:spAutoFit/>
          </a:bodyPr>
          <a:lstStyle/>
          <a:p>
            <a:r>
              <a:rPr lang="en-US" dirty="0"/>
              <a:t>                           </a:t>
            </a:r>
            <a:r>
              <a:rPr lang="en-US" sz="2800" b="1" dirty="0">
                <a:latin typeface="Times New Roman" panose="02020603050405020304" pitchFamily="18" charset="0"/>
                <a:cs typeface="Times New Roman" panose="02020603050405020304" pitchFamily="18" charset="0"/>
              </a:rPr>
              <a:t>N.NITHIN KUMAR </a:t>
            </a:r>
          </a:p>
          <a:p>
            <a:r>
              <a:rPr lang="en-US" sz="2800" b="1" dirty="0">
                <a:latin typeface="Times New Roman" panose="02020603050405020304" pitchFamily="18" charset="0"/>
                <a:cs typeface="Times New Roman" panose="02020603050405020304" pitchFamily="18" charset="0"/>
              </a:rPr>
              <a:t>                           23MBMA14 </a:t>
            </a:r>
          </a:p>
          <a:p>
            <a:r>
              <a:rPr lang="en-US" sz="2800" b="1" dirty="0">
                <a:latin typeface="Times New Roman" panose="02020603050405020304" pitchFamily="18" charset="0"/>
                <a:cs typeface="Times New Roman" panose="02020603050405020304" pitchFamily="18" charset="0"/>
              </a:rPr>
              <a:t>                       MBA(GENERAL)</a:t>
            </a:r>
          </a:p>
          <a:p>
            <a:r>
              <a:rPr lang="en-US" sz="2800" b="1" dirty="0">
                <a:latin typeface="Times New Roman" panose="02020603050405020304" pitchFamily="18" charset="0"/>
                <a:cs typeface="Times New Roman" panose="02020603050405020304" pitchFamily="18" charset="0"/>
              </a:rPr>
              <a:t>   SCHOOL OF MANAGEMENT STUDIES</a:t>
            </a:r>
          </a:p>
          <a:p>
            <a:r>
              <a:rPr lang="en-US" sz="2800" b="1" dirty="0">
                <a:latin typeface="Times New Roman" panose="02020603050405020304" pitchFamily="18" charset="0"/>
                <a:cs typeface="Times New Roman" panose="02020603050405020304" pitchFamily="18" charset="0"/>
              </a:rPr>
              <a:t>            UNIVERSITY OF HYDERABAD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502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3212B7-4BED-4389-921B-4BDB556E6A6B}"/>
              </a:ext>
            </a:extLst>
          </p:cNvPr>
          <p:cNvSpPr txBox="1"/>
          <p:nvPr/>
        </p:nvSpPr>
        <p:spPr>
          <a:xfrm>
            <a:off x="344557" y="238538"/>
            <a:ext cx="11502886" cy="4955203"/>
          </a:xfrm>
          <a:prstGeom prst="rect">
            <a:avLst/>
          </a:prstGeom>
          <a:noFill/>
        </p:spPr>
        <p:txBody>
          <a:bodyPr wrap="square" rtlCol="0">
            <a:spAutoFit/>
          </a:bodyPr>
          <a:lstStyle/>
          <a:p>
            <a:pPr algn="ctr"/>
            <a:r>
              <a:rPr lang="en-US" sz="3600" dirty="0"/>
              <a:t>Contents</a:t>
            </a:r>
            <a:endParaRPr lang="en-US" sz="2400" dirty="0"/>
          </a:p>
          <a:p>
            <a:pPr marL="514350" indent="-514350">
              <a:buFont typeface="+mj-lt"/>
              <a:buAutoNum type="arabicParenR"/>
            </a:pPr>
            <a:r>
              <a:rPr lang="en-US" sz="2800" dirty="0"/>
              <a:t> Objective</a:t>
            </a:r>
            <a:endParaRPr lang="en-IN" sz="2800" dirty="0"/>
          </a:p>
          <a:p>
            <a:pPr marL="514350" indent="-514350">
              <a:buFont typeface="+mj-lt"/>
              <a:buAutoNum type="arabicParenR"/>
            </a:pPr>
            <a:r>
              <a:rPr lang="en-IN" sz="2800" dirty="0"/>
              <a:t>Requirements</a:t>
            </a:r>
          </a:p>
          <a:p>
            <a:pPr marL="514350" indent="-514350">
              <a:buFont typeface="+mj-lt"/>
              <a:buAutoNum type="arabicParenR"/>
            </a:pPr>
            <a:r>
              <a:rPr lang="en-IN" sz="2800" dirty="0"/>
              <a:t>Software Tools Required </a:t>
            </a:r>
          </a:p>
          <a:p>
            <a:pPr marL="514350" indent="-514350">
              <a:buFont typeface="+mj-lt"/>
              <a:buAutoNum type="arabicParenR"/>
            </a:pPr>
            <a:r>
              <a:rPr lang="en-IN" sz="2800" dirty="0"/>
              <a:t>Programming Languages</a:t>
            </a:r>
          </a:p>
          <a:p>
            <a:pPr marL="514350" indent="-514350">
              <a:buFont typeface="+mj-lt"/>
              <a:buAutoNum type="arabicParenR"/>
            </a:pPr>
            <a:r>
              <a:rPr lang="en-IN" sz="2800" dirty="0"/>
              <a:t>R&amp;D Basic Prototype Building</a:t>
            </a:r>
          </a:p>
          <a:p>
            <a:pPr marL="514350" indent="-514350">
              <a:buFont typeface="+mj-lt"/>
              <a:buAutoNum type="arabicParenR"/>
            </a:pPr>
            <a:r>
              <a:rPr lang="en-IN" sz="2800" dirty="0"/>
              <a:t>Integrating with the </a:t>
            </a:r>
            <a:r>
              <a:rPr lang="en-IN" sz="2800" dirty="0" err="1"/>
              <a:t>Mysql</a:t>
            </a:r>
            <a:r>
              <a:rPr lang="en-IN" sz="2800" dirty="0"/>
              <a:t> database</a:t>
            </a:r>
          </a:p>
          <a:p>
            <a:pPr marL="514350" indent="-514350">
              <a:buFont typeface="+mj-lt"/>
              <a:buAutoNum type="arabicParenR"/>
            </a:pPr>
            <a:r>
              <a:rPr lang="en-IN" sz="2800" dirty="0"/>
              <a:t>Application and Logic building</a:t>
            </a:r>
          </a:p>
          <a:p>
            <a:pPr marL="514350" indent="-514350">
              <a:buFont typeface="+mj-lt"/>
              <a:buAutoNum type="arabicParenR"/>
            </a:pPr>
            <a:r>
              <a:rPr lang="en-IN" sz="2800" dirty="0"/>
              <a:t>Challenges Faced</a:t>
            </a:r>
          </a:p>
          <a:p>
            <a:pPr marL="514350" indent="-514350">
              <a:buFont typeface="+mj-lt"/>
              <a:buAutoNum type="arabicParenR"/>
            </a:pPr>
            <a:r>
              <a:rPr lang="en-IN" sz="2800" dirty="0"/>
              <a:t>Final Outputs</a:t>
            </a:r>
          </a:p>
          <a:p>
            <a:pPr marL="514350" indent="-514350">
              <a:buFont typeface="+mj-lt"/>
              <a:buAutoNum type="arabicParenR"/>
            </a:pPr>
            <a:r>
              <a:rPr lang="en-IN" sz="2800" dirty="0"/>
              <a:t>Thankyou</a:t>
            </a:r>
            <a:endParaRPr lang="en-US" sz="2800" dirty="0"/>
          </a:p>
        </p:txBody>
      </p:sp>
      <p:pic>
        <p:nvPicPr>
          <p:cNvPr id="5" name="Picture 4" descr="University of Hyderabad - Wikipedia">
            <a:extLst>
              <a:ext uri="{FF2B5EF4-FFF2-40B4-BE49-F238E27FC236}">
                <a16:creationId xmlns:a16="http://schemas.microsoft.com/office/drawing/2014/main" id="{C02C390F-879B-4C52-BCC4-F2D5F081A63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649351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49D789-55DB-409D-9BD5-F6447802F00B}"/>
              </a:ext>
            </a:extLst>
          </p:cNvPr>
          <p:cNvSpPr txBox="1"/>
          <p:nvPr/>
        </p:nvSpPr>
        <p:spPr>
          <a:xfrm>
            <a:off x="106017" y="116750"/>
            <a:ext cx="12085983" cy="6217087"/>
          </a:xfrm>
          <a:prstGeom prst="rect">
            <a:avLst/>
          </a:prstGeom>
          <a:noFill/>
        </p:spPr>
        <p:txBody>
          <a:bodyPr wrap="square">
            <a:spAutoFit/>
          </a:bodyPr>
          <a:lstStyle/>
          <a:p>
            <a:pPr algn="ctr"/>
            <a:r>
              <a:rPr lang="en-US" sz="3600" dirty="0">
                <a:latin typeface="Gill Sans MT" panose="020B0502020104020203" pitchFamily="34" charset="0"/>
                <a:cs typeface="Times New Roman" panose="02020603050405020304" pitchFamily="18" charset="0"/>
              </a:rPr>
              <a:t>Objective</a:t>
            </a:r>
            <a:r>
              <a:rPr lang="en-US" sz="2800" dirty="0">
                <a:latin typeface="+mj-lt"/>
                <a:cs typeface="Times New Roman" panose="02020603050405020304" pitchFamily="18" charset="0"/>
              </a:rPr>
              <a:t>                             </a:t>
            </a:r>
          </a:p>
          <a:p>
            <a:endParaRPr lang="en-US" sz="2800" dirty="0">
              <a:latin typeface="+mj-lt"/>
              <a:cs typeface="Times New Roman" panose="02020603050405020304" pitchFamily="18" charset="0"/>
            </a:endParaRPr>
          </a:p>
          <a:p>
            <a:endParaRPr lang="en-US" sz="2800" dirty="0">
              <a:latin typeface="+mj-lt"/>
              <a:cs typeface="Times New Roman" panose="02020603050405020304" pitchFamily="18" charset="0"/>
            </a:endParaRPr>
          </a:p>
          <a:p>
            <a:r>
              <a:rPr lang="en-US" sz="3200" dirty="0">
                <a:latin typeface="Gill Sans MT" panose="020B0502020104020203" pitchFamily="34" charset="0"/>
                <a:cs typeface="Times New Roman" panose="02020603050405020304" pitchFamily="18" charset="0"/>
              </a:rPr>
              <a:t>The objective of this project was build to Dynamic, Responsive, Realtime and a Robust Sales Dashboard applying the integrated with the </a:t>
            </a:r>
            <a:r>
              <a:rPr lang="en-US" sz="3200" dirty="0" err="1">
                <a:latin typeface="Gill Sans MT" panose="020B0502020104020203" pitchFamily="34" charset="0"/>
                <a:cs typeface="Times New Roman" panose="02020603050405020304" pitchFamily="18" charset="0"/>
              </a:rPr>
              <a:t>Mysql</a:t>
            </a:r>
            <a:r>
              <a:rPr lang="en-US" sz="3200" dirty="0">
                <a:latin typeface="Gill Sans MT" panose="020B0502020104020203" pitchFamily="34" charset="0"/>
                <a:cs typeface="Times New Roman" panose="02020603050405020304" pitchFamily="18" charset="0"/>
              </a:rPr>
              <a:t> database, applying the date filters, data analysis visualization, to one of the clients at Innodatatics,  using JavaScript linked with HTML and CSS etc.</a:t>
            </a:r>
            <a:br>
              <a:rPr lang="en-US" sz="3200" dirty="0">
                <a:latin typeface="Gill Sans MT" panose="020B0502020104020203" pitchFamily="34" charset="0"/>
                <a:cs typeface="Times New Roman" panose="02020603050405020304" pitchFamily="18" charset="0"/>
              </a:rPr>
            </a:br>
            <a:endParaRPr lang="en-US" sz="3200" dirty="0">
              <a:latin typeface="Gill Sans MT" panose="020B0502020104020203" pitchFamily="34" charset="0"/>
              <a:cs typeface="Times New Roman" panose="02020603050405020304" pitchFamily="18" charset="0"/>
            </a:endParaRPr>
          </a:p>
          <a:p>
            <a:pPr marL="457200" indent="-457200">
              <a:buFont typeface="Arial" panose="020B0604020202020204" pitchFamily="34" charset="0"/>
              <a:buChar char="•"/>
            </a:pPr>
            <a:r>
              <a:rPr lang="en-US" sz="3200" dirty="0">
                <a:latin typeface="Gill Sans MT" panose="020B0502020104020203" pitchFamily="34" charset="0"/>
                <a:cs typeface="Times New Roman" panose="02020603050405020304" pitchFamily="18" charset="0"/>
              </a:rPr>
              <a:t>Core Objective</a:t>
            </a:r>
          </a:p>
          <a:p>
            <a:pPr marL="457200" indent="-457200">
              <a:buFont typeface="Arial" panose="020B0604020202020204" pitchFamily="34" charset="0"/>
              <a:buChar char="•"/>
            </a:pPr>
            <a:r>
              <a:rPr lang="en-US" sz="3200" dirty="0">
                <a:latin typeface="Gill Sans MT" panose="020B0502020104020203" pitchFamily="34" charset="0"/>
                <a:cs typeface="Times New Roman" panose="02020603050405020304" pitchFamily="18" charset="0"/>
              </a:rPr>
              <a:t>Objectives from time to time</a:t>
            </a:r>
          </a:p>
          <a:p>
            <a:pPr marL="457200" indent="-457200">
              <a:buFont typeface="Arial" panose="020B0604020202020204" pitchFamily="34" charset="0"/>
              <a:buChar char="•"/>
            </a:pPr>
            <a:r>
              <a:rPr lang="en-US" sz="3200" dirty="0">
                <a:latin typeface="Gill Sans MT" panose="020B0502020104020203" pitchFamily="34" charset="0"/>
                <a:cs typeface="Times New Roman" panose="02020603050405020304" pitchFamily="18" charset="0"/>
              </a:rPr>
              <a:t>Updated objectives</a:t>
            </a:r>
          </a:p>
          <a:p>
            <a:endParaRPr lang="en-IN" dirty="0"/>
          </a:p>
        </p:txBody>
      </p:sp>
      <p:pic>
        <p:nvPicPr>
          <p:cNvPr id="6" name="Picture 5" descr="University of Hyderabad - Wikipedia">
            <a:extLst>
              <a:ext uri="{FF2B5EF4-FFF2-40B4-BE49-F238E27FC236}">
                <a16:creationId xmlns:a16="http://schemas.microsoft.com/office/drawing/2014/main" id="{B0685481-14D4-45F5-BFEA-4A17B1C7A3B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85784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7EB4A4-039C-4A04-B2CE-482C28BDC7CB}"/>
              </a:ext>
            </a:extLst>
          </p:cNvPr>
          <p:cNvSpPr txBox="1"/>
          <p:nvPr/>
        </p:nvSpPr>
        <p:spPr>
          <a:xfrm>
            <a:off x="278297" y="185333"/>
            <a:ext cx="11767930" cy="6989799"/>
          </a:xfrm>
          <a:prstGeom prst="rect">
            <a:avLst/>
          </a:prstGeom>
          <a:noFill/>
        </p:spPr>
        <p:txBody>
          <a:bodyPr wrap="square" rtlCol="0">
            <a:spAutoFit/>
          </a:bodyPr>
          <a:lstStyle/>
          <a:p>
            <a:pPr algn="ctr">
              <a:lnSpc>
                <a:spcPct val="107000"/>
              </a:lnSpc>
              <a:spcBef>
                <a:spcPts val="200"/>
              </a:spcBef>
            </a:pPr>
            <a:r>
              <a:rPr lang="en-IN" sz="2400" b="1" kern="100"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Objectives of developing a Sales Dashboard </a:t>
            </a:r>
          </a:p>
          <a:p>
            <a:pPr marL="342900" lvl="0" indent="-342900" algn="just">
              <a:lnSpc>
                <a:spcPct val="115000"/>
              </a:lnSpc>
              <a:spcAft>
                <a:spcPts val="800"/>
              </a:spcAft>
              <a:tabLst>
                <a:tab pos="4572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Real-time insights:</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Provide up-to-date information on sales performance, allowing for timely decision-making.</a:t>
            </a:r>
          </a:p>
          <a:p>
            <a:pPr marL="342900" lvl="0" indent="-342900" algn="just">
              <a:lnSpc>
                <a:spcPct val="115000"/>
              </a:lnSpc>
              <a:spcAft>
                <a:spcPts val="800"/>
              </a:spcAft>
              <a:tabLst>
                <a:tab pos="457200" algn="l"/>
              </a:tabLs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tabLst>
                <a:tab pos="4572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Performance tracking:</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Monitor sales trends, identify areas for improvement,</a:t>
            </a:r>
          </a:p>
          <a:p>
            <a:pPr marL="342900" lvl="0" indent="-342900" algn="just">
              <a:lnSpc>
                <a:spcPct val="115000"/>
              </a:lnSpc>
              <a:spcAft>
                <a:spcPts val="800"/>
              </a:spcAft>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and measure the impact of sales initiatives.</a:t>
            </a:r>
          </a:p>
          <a:p>
            <a:pPr marL="342900" lvl="0" indent="-342900" algn="just">
              <a:lnSpc>
                <a:spcPct val="115000"/>
              </a:lnSpc>
              <a:spcAft>
                <a:spcPts val="800"/>
              </a:spcAft>
              <a:tabLst>
                <a:tab pos="457200" algn="l"/>
              </a:tabLs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tabLst>
                <a:tab pos="4572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Goal setting and tracking:</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Establish sales targets and track progress towards achieving them.</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tabLst>
                <a:tab pos="4572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Resource allocation:</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Optimize resource allocation based on sales performance </a:t>
            </a:r>
          </a:p>
          <a:p>
            <a:pPr marL="342900" lvl="0" indent="-342900" algn="just">
              <a:lnSpc>
                <a:spcPct val="115000"/>
              </a:lnSpc>
              <a:spcAft>
                <a:spcPts val="800"/>
              </a:spcAft>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and identify areas where additional resources are needed.</a:t>
            </a:r>
          </a:p>
          <a:p>
            <a:pPr marL="342900" lvl="0" indent="-342900" algn="just">
              <a:lnSpc>
                <a:spcPct val="115000"/>
              </a:lnSpc>
              <a:spcAft>
                <a:spcPts val="800"/>
              </a:spcAft>
              <a:tabLst>
                <a:tab pos="457200" algn="l"/>
              </a:tabLs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tabLst>
                <a:tab pos="457200" algn="l"/>
              </a:tabLst>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Customer analysis:</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Gain insights into customer behaviour, preferences, </a:t>
            </a:r>
          </a:p>
          <a:p>
            <a:pPr marL="342900" lvl="0" indent="-342900" algn="just">
              <a:lnSpc>
                <a:spcPct val="115000"/>
              </a:lnSpc>
              <a:spcAft>
                <a:spcPts val="800"/>
              </a:spcAft>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and purchasing patterns.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26586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A05231-9280-45A6-AC27-29089E1B346F}"/>
              </a:ext>
            </a:extLst>
          </p:cNvPr>
          <p:cNvSpPr txBox="1"/>
          <p:nvPr/>
        </p:nvSpPr>
        <p:spPr>
          <a:xfrm>
            <a:off x="106017" y="159025"/>
            <a:ext cx="12085983" cy="1015663"/>
          </a:xfrm>
          <a:prstGeom prst="rect">
            <a:avLst/>
          </a:prstGeom>
          <a:noFill/>
        </p:spPr>
        <p:txBody>
          <a:bodyPr wrap="square" rtlCol="0">
            <a:spAutoFit/>
          </a:bodyPr>
          <a:lstStyle/>
          <a:p>
            <a:pPr algn="ctr"/>
            <a:r>
              <a:rPr lang="en-US" sz="3600" dirty="0">
                <a:latin typeface="Gill Sans MT" panose="020B0502020104020203" pitchFamily="34" charset="0"/>
              </a:rPr>
              <a:t>Programming Languages                </a:t>
            </a:r>
          </a:p>
          <a:p>
            <a:pPr algn="ctr"/>
            <a:r>
              <a:rPr lang="en-IN" sz="2400" dirty="0">
                <a:latin typeface="Gill Sans MT" panose="020B0502020104020203" pitchFamily="34" charset="0"/>
              </a:rPr>
              <a:t>    </a:t>
            </a:r>
          </a:p>
        </p:txBody>
      </p:sp>
      <p:pic>
        <p:nvPicPr>
          <p:cNvPr id="6" name="Picture 5">
            <a:extLst>
              <a:ext uri="{FF2B5EF4-FFF2-40B4-BE49-F238E27FC236}">
                <a16:creationId xmlns:a16="http://schemas.microsoft.com/office/drawing/2014/main" id="{BC38FBDB-EFD4-4A9F-A6EC-562355718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124" y="914400"/>
            <a:ext cx="11050016" cy="5943599"/>
          </a:xfrm>
          <a:prstGeom prst="rect">
            <a:avLst/>
          </a:prstGeom>
        </p:spPr>
      </p:pic>
      <p:pic>
        <p:nvPicPr>
          <p:cNvPr id="5" name="Picture 4" descr="University of Hyderabad - Wikipedia">
            <a:extLst>
              <a:ext uri="{FF2B5EF4-FFF2-40B4-BE49-F238E27FC236}">
                <a16:creationId xmlns:a16="http://schemas.microsoft.com/office/drawing/2014/main" id="{B5CCCEAF-C5C0-4CB9-9304-B158A16B115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2177340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9506A5-DB1B-4DDF-9484-3D32F31ADB2F}"/>
              </a:ext>
            </a:extLst>
          </p:cNvPr>
          <p:cNvSpPr txBox="1"/>
          <p:nvPr/>
        </p:nvSpPr>
        <p:spPr>
          <a:xfrm>
            <a:off x="185530" y="102457"/>
            <a:ext cx="12006470" cy="7386638"/>
          </a:xfrm>
          <a:prstGeom prst="rect">
            <a:avLst/>
          </a:prstGeom>
          <a:noFill/>
        </p:spPr>
        <p:txBody>
          <a:bodyPr wrap="square" rtlCol="0">
            <a:spAutoFit/>
          </a:bodyPr>
          <a:lstStyle/>
          <a:p>
            <a:pPr algn="ctr"/>
            <a:r>
              <a:rPr lang="en-US" sz="2800" dirty="0">
                <a:latin typeface="Gill Sans MT" panose="020B0502020104020203" pitchFamily="34" charset="0"/>
              </a:rPr>
              <a:t>R&amp;D  </a:t>
            </a:r>
          </a:p>
          <a:p>
            <a:pPr algn="ctr"/>
            <a:endParaRPr lang="en-US" sz="2400" dirty="0">
              <a:latin typeface="Gill Sans MT" panose="020B0502020104020203" pitchFamily="34" charset="0"/>
            </a:endParaRPr>
          </a:p>
          <a:p>
            <a:pPr algn="ctr"/>
            <a:r>
              <a:rPr lang="en-US" sz="2800" dirty="0">
                <a:latin typeface="Gill Sans MT" panose="020B0502020104020203" pitchFamily="34" charset="0"/>
              </a:rPr>
              <a:t>Sources</a:t>
            </a:r>
          </a:p>
          <a:p>
            <a:r>
              <a:rPr lang="en-US" sz="2800" dirty="0">
                <a:latin typeface="Gill Sans MT" panose="020B0502020104020203" pitchFamily="34" charset="0"/>
              </a:rPr>
              <a:t>YouTube (Building Sales dashboard using HTML, CSS, JS)</a:t>
            </a:r>
          </a:p>
          <a:p>
            <a:r>
              <a:rPr lang="en-US" sz="2800" dirty="0">
                <a:latin typeface="Gill Sans MT" panose="020B0502020104020203" pitchFamily="34" charset="0"/>
              </a:rPr>
              <a:t>GITHUB: GitHub for the dashboard framework and protype building</a:t>
            </a:r>
          </a:p>
          <a:p>
            <a:r>
              <a:rPr lang="en-US" sz="2800" dirty="0" err="1">
                <a:latin typeface="Gill Sans MT" panose="020B0502020104020203" pitchFamily="34" charset="0"/>
              </a:rPr>
              <a:t>Chatgpt</a:t>
            </a:r>
            <a:r>
              <a:rPr lang="en-US" sz="2800" dirty="0">
                <a:latin typeface="Gill Sans MT" panose="020B0502020104020203" pitchFamily="34" charset="0"/>
              </a:rPr>
              <a:t> : For the JavaScript functions, HTML framework and the CSS styles</a:t>
            </a:r>
          </a:p>
          <a:p>
            <a:r>
              <a:rPr lang="en-US" sz="2800" dirty="0">
                <a:latin typeface="Gill Sans MT" panose="020B0502020104020203" pitchFamily="34" charset="0"/>
              </a:rPr>
              <a:t>Claude.ai: For error corrections, modifications to be made to include to the dashboard.</a:t>
            </a:r>
          </a:p>
          <a:p>
            <a:endParaRPr lang="en-US" sz="2800" dirty="0">
              <a:latin typeface="Gill Sans MT" panose="020B0502020104020203" pitchFamily="34" charset="0"/>
            </a:endParaRPr>
          </a:p>
          <a:p>
            <a:endParaRPr lang="en-US" sz="2800" dirty="0">
              <a:latin typeface="Gill Sans MT" panose="020B0502020104020203" pitchFamily="34" charset="0"/>
            </a:endParaRPr>
          </a:p>
          <a:p>
            <a:r>
              <a:rPr lang="en-US" sz="2800" dirty="0">
                <a:latin typeface="Gill Sans MT" panose="020B0502020104020203" pitchFamily="34" charset="0"/>
              </a:rPr>
              <a:t>Prototype Building:  The first basic prototype was built using the Primary data, by manually converting the excel file to JSON format and fetching it, to the </a:t>
            </a:r>
            <a:r>
              <a:rPr lang="en-US" sz="2800" dirty="0" err="1">
                <a:latin typeface="Gill Sans MT" panose="020B0502020104020203" pitchFamily="34" charset="0"/>
              </a:rPr>
              <a:t>js</a:t>
            </a:r>
            <a:r>
              <a:rPr lang="en-US" sz="2800" dirty="0">
                <a:latin typeface="Gill Sans MT" panose="020B0502020104020203" pitchFamily="34" charset="0"/>
              </a:rPr>
              <a:t> code. Below is the basic prototype built.</a:t>
            </a:r>
          </a:p>
          <a:p>
            <a:endParaRPr lang="en-US" sz="2800" dirty="0">
              <a:latin typeface="Gill Sans MT" panose="020B0502020104020203" pitchFamily="34" charset="0"/>
            </a:endParaRPr>
          </a:p>
          <a:p>
            <a:endParaRPr lang="en-US" sz="2400" dirty="0">
              <a:latin typeface="Gill Sans MT" panose="020B0502020104020203" pitchFamily="34" charset="0"/>
            </a:endParaRPr>
          </a:p>
          <a:p>
            <a:endParaRPr lang="en-US" sz="2400" dirty="0">
              <a:latin typeface="Gill Sans MT" panose="020B0502020104020203" pitchFamily="34" charset="0"/>
            </a:endParaRPr>
          </a:p>
          <a:p>
            <a:endParaRPr lang="en-US" sz="2400" dirty="0">
              <a:latin typeface="Gill Sans MT" panose="020B0502020104020203" pitchFamily="34" charset="0"/>
            </a:endParaRPr>
          </a:p>
          <a:p>
            <a:endParaRPr lang="en-IN" dirty="0"/>
          </a:p>
        </p:txBody>
      </p:sp>
      <p:pic>
        <p:nvPicPr>
          <p:cNvPr id="5" name="Picture 4" descr="University of Hyderabad - Wikipedia">
            <a:extLst>
              <a:ext uri="{FF2B5EF4-FFF2-40B4-BE49-F238E27FC236}">
                <a16:creationId xmlns:a16="http://schemas.microsoft.com/office/drawing/2014/main" id="{CE7170DD-C0CA-4CE0-984E-795A701974E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552881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4DFF7B-BE56-4D79-9CD8-A08F9D513B1F}"/>
              </a:ext>
            </a:extLst>
          </p:cNvPr>
          <p:cNvSpPr txBox="1"/>
          <p:nvPr/>
        </p:nvSpPr>
        <p:spPr>
          <a:xfrm>
            <a:off x="0" y="0"/>
            <a:ext cx="12192000" cy="7848302"/>
          </a:xfrm>
          <a:prstGeom prst="rect">
            <a:avLst/>
          </a:prstGeom>
          <a:noFill/>
        </p:spPr>
        <p:txBody>
          <a:bodyPr wrap="square" rtlCol="0">
            <a:spAutoFit/>
          </a:bodyPr>
          <a:lstStyle/>
          <a:p>
            <a:pPr algn="ctr"/>
            <a:r>
              <a:rPr lang="en-US" sz="3200" dirty="0"/>
              <a:t>Software Tools Required </a:t>
            </a:r>
          </a:p>
          <a:p>
            <a:pPr algn="ctr"/>
            <a:r>
              <a:rPr lang="en-US" sz="3200"/>
              <a:t>And Methodology        </a:t>
            </a:r>
            <a:endParaRPr lang="en-US" sz="3200" dirty="0"/>
          </a:p>
          <a:p>
            <a:endParaRPr lang="en-US" sz="3200" dirty="0"/>
          </a:p>
          <a:p>
            <a:r>
              <a:rPr lang="en-US" sz="3200" dirty="0"/>
              <a:t>                       </a:t>
            </a:r>
            <a:r>
              <a:rPr lang="en-US" sz="2400" dirty="0"/>
              <a:t>VISUAL STUDIO CODE </a:t>
            </a:r>
          </a:p>
          <a:p>
            <a:r>
              <a:rPr lang="en-US" sz="3200" dirty="0"/>
              <a:t>                       </a:t>
            </a:r>
            <a:r>
              <a:rPr lang="en-US" sz="2000" dirty="0">
                <a:latin typeface="Gill Sans MT" panose="020B0502020104020203" pitchFamily="34" charset="0"/>
              </a:rPr>
              <a:t>version: 1.90.0 (system setup)</a:t>
            </a:r>
          </a:p>
          <a:p>
            <a:r>
              <a:rPr lang="en-US" sz="2000" dirty="0"/>
              <a:t>                                     </a:t>
            </a:r>
            <a:r>
              <a:rPr lang="en-US" sz="2000" dirty="0">
                <a:latin typeface="Gill Sans MT" panose="020B0502020104020203" pitchFamily="34" charset="0"/>
              </a:rPr>
              <a:t>download link: </a:t>
            </a:r>
            <a:r>
              <a:rPr lang="en-US" sz="2000" u="sng" dirty="0">
                <a:solidFill>
                  <a:srgbClr val="0070C0"/>
                </a:solidFill>
                <a:latin typeface="Gill Sans MT" panose="020B0502020104020203" pitchFamily="34" charset="0"/>
                <a:hlinkClick r:id="rId2">
                  <a:extLst>
                    <a:ext uri="{A12FA001-AC4F-418D-AE19-62706E023703}">
                      <ahyp:hlinkClr xmlns:ahyp="http://schemas.microsoft.com/office/drawing/2018/hyperlinkcolor" val="tx"/>
                    </a:ext>
                  </a:extLst>
                </a:hlinkClick>
              </a:rPr>
              <a:t>https://code.visualstudio.com/download</a:t>
            </a:r>
            <a:endParaRPr lang="en-US" sz="2000" u="sng" dirty="0">
              <a:solidFill>
                <a:srgbClr val="0070C0"/>
              </a:solidFill>
              <a:latin typeface="Gill Sans MT" panose="020B0502020104020203" pitchFamily="34" charset="0"/>
            </a:endParaRPr>
          </a:p>
          <a:p>
            <a:endParaRPr lang="en-US" sz="2000" u="sng" dirty="0">
              <a:solidFill>
                <a:srgbClr val="0070C0"/>
              </a:solidFill>
            </a:endParaRPr>
          </a:p>
          <a:p>
            <a:endParaRPr lang="en-US" sz="2000" u="sng" dirty="0">
              <a:solidFill>
                <a:srgbClr val="0070C0"/>
              </a:solidFill>
            </a:endParaRPr>
          </a:p>
          <a:p>
            <a:r>
              <a:rPr lang="en-US" sz="2000" dirty="0">
                <a:solidFill>
                  <a:srgbClr val="0070C0"/>
                </a:solidFill>
              </a:rPr>
              <a:t>                               </a:t>
            </a:r>
            <a:r>
              <a:rPr lang="en-US" sz="2400" dirty="0">
                <a:latin typeface="Gill Sans MT" panose="020B0502020104020203" pitchFamily="34" charset="0"/>
              </a:rPr>
              <a:t>MYSQL WORKBENCH</a:t>
            </a:r>
          </a:p>
          <a:p>
            <a:r>
              <a:rPr lang="en-US" sz="2000" dirty="0">
                <a:latin typeface="Gill Sans MT" panose="020B0502020104020203" pitchFamily="34" charset="0"/>
              </a:rPr>
              <a:t>                              version:8.0</a:t>
            </a:r>
          </a:p>
          <a:p>
            <a:r>
              <a:rPr lang="en-US" sz="2000" dirty="0">
                <a:latin typeface="Gill Sans MT" panose="020B0502020104020203" pitchFamily="34" charset="0"/>
              </a:rPr>
              <a:t>                              download link: </a:t>
            </a:r>
            <a:r>
              <a:rPr lang="en-US" sz="2000" u="sng" dirty="0">
                <a:solidFill>
                  <a:schemeClr val="accent1"/>
                </a:solidFill>
                <a:latin typeface="Gill Sans MT" panose="020B0502020104020203" pitchFamily="34" charset="0"/>
              </a:rPr>
              <a:t>https://dev.mysql.com/downloads/workbench/</a:t>
            </a:r>
          </a:p>
          <a:p>
            <a:endParaRPr lang="en-US" sz="2000" u="sng" dirty="0">
              <a:solidFill>
                <a:schemeClr val="accent1"/>
              </a:solidFill>
              <a:latin typeface="Gill Sans MT" panose="020B0502020104020203" pitchFamily="34" charset="0"/>
            </a:endParaRPr>
          </a:p>
          <a:p>
            <a:endParaRPr lang="en-US" sz="3200" dirty="0"/>
          </a:p>
          <a:p>
            <a:r>
              <a:rPr lang="en-US" sz="3200" dirty="0"/>
              <a:t>                              </a:t>
            </a:r>
            <a:r>
              <a:rPr lang="en-US" sz="2400" dirty="0">
                <a:latin typeface="Gill Sans MT" panose="020B0502020104020203" pitchFamily="34" charset="0"/>
              </a:rPr>
              <a:t>NODE JS Server</a:t>
            </a:r>
          </a:p>
          <a:p>
            <a:r>
              <a:rPr lang="en-US" sz="2000" dirty="0">
                <a:latin typeface="Gill Sans MT" panose="020B0502020104020203" pitchFamily="34" charset="0"/>
              </a:rPr>
              <a:t>                                                version: 20.15.0</a:t>
            </a:r>
          </a:p>
          <a:p>
            <a:r>
              <a:rPr lang="en-US" sz="2000" dirty="0">
                <a:latin typeface="Gill Sans MT" panose="020B0502020104020203" pitchFamily="34" charset="0"/>
              </a:rPr>
              <a:t>                                                download link: </a:t>
            </a:r>
            <a:r>
              <a:rPr lang="en-US" sz="2000" u="sng" dirty="0">
                <a:solidFill>
                  <a:schemeClr val="accent1"/>
                </a:solidFill>
                <a:latin typeface="Gill Sans MT" panose="020B0502020104020203" pitchFamily="34" charset="0"/>
              </a:rPr>
              <a:t>https://nodejs.org/en/download/package-manager</a:t>
            </a:r>
          </a:p>
          <a:p>
            <a:endParaRPr lang="en-IN" sz="3200" dirty="0"/>
          </a:p>
          <a:p>
            <a:endParaRPr lang="en-IN" sz="3200" dirty="0"/>
          </a:p>
          <a:p>
            <a:endParaRPr lang="en-IN" sz="3200" dirty="0"/>
          </a:p>
        </p:txBody>
      </p:sp>
      <p:pic>
        <p:nvPicPr>
          <p:cNvPr id="5" name="Picture 4">
            <a:extLst>
              <a:ext uri="{FF2B5EF4-FFF2-40B4-BE49-F238E27FC236}">
                <a16:creationId xmlns:a16="http://schemas.microsoft.com/office/drawing/2014/main" id="{E44CBD5F-319D-4646-A581-B422AD1F55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304" y="837579"/>
            <a:ext cx="1596913" cy="1590675"/>
          </a:xfrm>
          <a:prstGeom prst="rect">
            <a:avLst/>
          </a:prstGeom>
        </p:spPr>
      </p:pic>
      <p:pic>
        <p:nvPicPr>
          <p:cNvPr id="9" name="Picture 8">
            <a:extLst>
              <a:ext uri="{FF2B5EF4-FFF2-40B4-BE49-F238E27FC236}">
                <a16:creationId xmlns:a16="http://schemas.microsoft.com/office/drawing/2014/main" id="{4091B89B-3DD5-4F06-9438-475CC83FAB28}"/>
              </a:ext>
            </a:extLst>
          </p:cNvPr>
          <p:cNvPicPr>
            <a:picLocks noChangeAspect="1"/>
          </p:cNvPicPr>
          <p:nvPr/>
        </p:nvPicPr>
        <p:blipFill rotWithShape="1">
          <a:blip r:embed="rId4">
            <a:extLst>
              <a:ext uri="{28A0092B-C50C-407E-A947-70E740481C1C}">
                <a14:useLocalDpi xmlns:a14="http://schemas.microsoft.com/office/drawing/2010/main" val="0"/>
              </a:ext>
            </a:extLst>
          </a:blip>
          <a:srcRect l="8415" t="8213" r="12743" b="9565"/>
          <a:stretch/>
        </p:blipFill>
        <p:spPr>
          <a:xfrm>
            <a:off x="238539" y="2845238"/>
            <a:ext cx="1596913" cy="1665384"/>
          </a:xfrm>
          <a:prstGeom prst="rect">
            <a:avLst/>
          </a:prstGeom>
        </p:spPr>
      </p:pic>
      <p:pic>
        <p:nvPicPr>
          <p:cNvPr id="13" name="Picture 12">
            <a:extLst>
              <a:ext uri="{FF2B5EF4-FFF2-40B4-BE49-F238E27FC236}">
                <a16:creationId xmlns:a16="http://schemas.microsoft.com/office/drawing/2014/main" id="{D9C57501-9EA0-4C5D-A8F9-29FC8DD62D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539" y="4684230"/>
            <a:ext cx="2733675" cy="1666875"/>
          </a:xfrm>
          <a:prstGeom prst="rect">
            <a:avLst/>
          </a:prstGeom>
        </p:spPr>
      </p:pic>
      <p:pic>
        <p:nvPicPr>
          <p:cNvPr id="7" name="Picture 6" descr="University of Hyderabad - Wikipedia">
            <a:extLst>
              <a:ext uri="{FF2B5EF4-FFF2-40B4-BE49-F238E27FC236}">
                <a16:creationId xmlns:a16="http://schemas.microsoft.com/office/drawing/2014/main" id="{1137C2F7-DEBF-4E22-A06E-58A5F11640A1}"/>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2471675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9724E1-9541-41C4-9DB2-F693CEECEDEF}"/>
              </a:ext>
            </a:extLst>
          </p:cNvPr>
          <p:cNvPicPr>
            <a:picLocks noChangeAspect="1"/>
          </p:cNvPicPr>
          <p:nvPr/>
        </p:nvPicPr>
        <p:blipFill rotWithShape="1">
          <a:blip r:embed="rId2"/>
          <a:srcRect r="8071"/>
          <a:stretch/>
        </p:blipFill>
        <p:spPr>
          <a:xfrm>
            <a:off x="0" y="1113184"/>
            <a:ext cx="12192000" cy="5744816"/>
          </a:xfrm>
          <a:prstGeom prst="rect">
            <a:avLst/>
          </a:prstGeom>
        </p:spPr>
      </p:pic>
      <p:sp>
        <p:nvSpPr>
          <p:cNvPr id="4" name="TextBox 3">
            <a:extLst>
              <a:ext uri="{FF2B5EF4-FFF2-40B4-BE49-F238E27FC236}">
                <a16:creationId xmlns:a16="http://schemas.microsoft.com/office/drawing/2014/main" id="{688BCA95-C78F-44D8-9512-D548CD6860D3}"/>
              </a:ext>
            </a:extLst>
          </p:cNvPr>
          <p:cNvSpPr txBox="1"/>
          <p:nvPr/>
        </p:nvSpPr>
        <p:spPr>
          <a:xfrm>
            <a:off x="3018555" y="384314"/>
            <a:ext cx="6154890"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BLOCK DIAGRAM AND PROCESS FLOW</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65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A47E60-8F9D-45AF-B887-983763658A2B}"/>
              </a:ext>
            </a:extLst>
          </p:cNvPr>
          <p:cNvPicPr/>
          <p:nvPr/>
        </p:nvPicPr>
        <p:blipFill rotWithShape="1">
          <a:blip r:embed="rId2"/>
          <a:srcRect r="26878"/>
          <a:stretch/>
        </p:blipFill>
        <p:spPr bwMode="auto">
          <a:xfrm>
            <a:off x="0" y="0"/>
            <a:ext cx="5446643" cy="6858000"/>
          </a:xfrm>
          <a:prstGeom prst="rect">
            <a:avLst/>
          </a:prstGeom>
          <a:ln>
            <a:noFill/>
          </a:ln>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063AE13A-088D-437C-AB07-BE0CD3C3D282}"/>
              </a:ext>
            </a:extLst>
          </p:cNvPr>
          <p:cNvPicPr/>
          <p:nvPr/>
        </p:nvPicPr>
        <p:blipFill rotWithShape="1">
          <a:blip r:embed="rId3"/>
          <a:srcRect t="-1051" b="5972"/>
          <a:stretch/>
        </p:blipFill>
        <p:spPr>
          <a:xfrm>
            <a:off x="4558748" y="-92765"/>
            <a:ext cx="7604677" cy="6950765"/>
          </a:xfrm>
          <a:prstGeom prst="rect">
            <a:avLst/>
          </a:prstGeom>
        </p:spPr>
      </p:pic>
    </p:spTree>
    <p:extLst>
      <p:ext uri="{BB962C8B-B14F-4D97-AF65-F5344CB8AC3E}">
        <p14:creationId xmlns:p14="http://schemas.microsoft.com/office/powerpoint/2010/main" val="3269945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7BF76E-7243-4A2D-A1C1-B8064753CF8F}"/>
              </a:ext>
            </a:extLst>
          </p:cNvPr>
          <p:cNvPicPr>
            <a:picLocks noChangeAspect="1"/>
          </p:cNvPicPr>
          <p:nvPr/>
        </p:nvPicPr>
        <p:blipFill>
          <a:blip r:embed="rId2"/>
          <a:stretch>
            <a:fillRect/>
          </a:stretch>
        </p:blipFill>
        <p:spPr>
          <a:xfrm>
            <a:off x="0" y="0"/>
            <a:ext cx="12192000" cy="6687053"/>
          </a:xfrm>
          <a:prstGeom prst="rect">
            <a:avLst/>
          </a:prstGeom>
        </p:spPr>
      </p:pic>
    </p:spTree>
    <p:extLst>
      <p:ext uri="{BB962C8B-B14F-4D97-AF65-F5344CB8AC3E}">
        <p14:creationId xmlns:p14="http://schemas.microsoft.com/office/powerpoint/2010/main" val="191881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B50167-9109-45BB-B6CF-0FBB187DE76B}"/>
              </a:ext>
            </a:extLst>
          </p:cNvPr>
          <p:cNvPicPr>
            <a:picLocks noChangeAspect="1"/>
          </p:cNvPicPr>
          <p:nvPr/>
        </p:nvPicPr>
        <p:blipFill>
          <a:blip r:embed="rId2"/>
          <a:stretch>
            <a:fillRect/>
          </a:stretch>
        </p:blipFill>
        <p:spPr>
          <a:xfrm>
            <a:off x="0" y="0"/>
            <a:ext cx="12192000" cy="6704596"/>
          </a:xfrm>
          <a:prstGeom prst="rect">
            <a:avLst/>
          </a:prstGeom>
        </p:spPr>
      </p:pic>
    </p:spTree>
    <p:extLst>
      <p:ext uri="{BB962C8B-B14F-4D97-AF65-F5344CB8AC3E}">
        <p14:creationId xmlns:p14="http://schemas.microsoft.com/office/powerpoint/2010/main" val="1263509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6B2753-E9D1-4B11-AE1C-05CA20A619B1}"/>
              </a:ext>
            </a:extLst>
          </p:cNvPr>
          <p:cNvPicPr/>
          <p:nvPr/>
        </p:nvPicPr>
        <p:blipFill rotWithShape="1">
          <a:blip r:embed="rId2"/>
          <a:srcRect t="13867" b="35964"/>
          <a:stretch/>
        </p:blipFill>
        <p:spPr>
          <a:xfrm>
            <a:off x="0" y="-1"/>
            <a:ext cx="6665844" cy="3154015"/>
          </a:xfrm>
          <a:prstGeom prst="rect">
            <a:avLst/>
          </a:prstGeom>
        </p:spPr>
      </p:pic>
      <p:pic>
        <p:nvPicPr>
          <p:cNvPr id="3" name="Picture 2">
            <a:extLst>
              <a:ext uri="{FF2B5EF4-FFF2-40B4-BE49-F238E27FC236}">
                <a16:creationId xmlns:a16="http://schemas.microsoft.com/office/drawing/2014/main" id="{2119A2E5-0D49-41F0-8E69-5549A6509FB5}"/>
              </a:ext>
            </a:extLst>
          </p:cNvPr>
          <p:cNvPicPr/>
          <p:nvPr/>
        </p:nvPicPr>
        <p:blipFill rotWithShape="1">
          <a:blip r:embed="rId3"/>
          <a:srcRect t="14915" b="20854"/>
          <a:stretch/>
        </p:blipFill>
        <p:spPr>
          <a:xfrm>
            <a:off x="0" y="3452196"/>
            <a:ext cx="6665844" cy="3154015"/>
          </a:xfrm>
          <a:prstGeom prst="rect">
            <a:avLst/>
          </a:prstGeom>
        </p:spPr>
      </p:pic>
      <p:pic>
        <p:nvPicPr>
          <p:cNvPr id="4" name="Picture 3">
            <a:extLst>
              <a:ext uri="{FF2B5EF4-FFF2-40B4-BE49-F238E27FC236}">
                <a16:creationId xmlns:a16="http://schemas.microsoft.com/office/drawing/2014/main" id="{7BB1E567-0844-4437-A858-5FF700C506B6}"/>
              </a:ext>
            </a:extLst>
          </p:cNvPr>
          <p:cNvPicPr/>
          <p:nvPr/>
        </p:nvPicPr>
        <p:blipFill rotWithShape="1">
          <a:blip r:embed="rId4"/>
          <a:srcRect t="25496" b="26803"/>
          <a:stretch/>
        </p:blipFill>
        <p:spPr>
          <a:xfrm>
            <a:off x="6096000" y="145773"/>
            <a:ext cx="6096000" cy="3008241"/>
          </a:xfrm>
          <a:prstGeom prst="rect">
            <a:avLst/>
          </a:prstGeom>
        </p:spPr>
      </p:pic>
      <p:pic>
        <p:nvPicPr>
          <p:cNvPr id="5" name="Picture 4">
            <a:extLst>
              <a:ext uri="{FF2B5EF4-FFF2-40B4-BE49-F238E27FC236}">
                <a16:creationId xmlns:a16="http://schemas.microsoft.com/office/drawing/2014/main" id="{0A69B079-378A-483F-8135-4CFDA2275108}"/>
              </a:ext>
            </a:extLst>
          </p:cNvPr>
          <p:cNvPicPr/>
          <p:nvPr/>
        </p:nvPicPr>
        <p:blipFill rotWithShape="1">
          <a:blip r:embed="rId5"/>
          <a:srcRect t="43179" b="5829"/>
          <a:stretch/>
        </p:blipFill>
        <p:spPr>
          <a:xfrm>
            <a:off x="6232479" y="3452196"/>
            <a:ext cx="5959522" cy="3154016"/>
          </a:xfrm>
          <a:prstGeom prst="rect">
            <a:avLst/>
          </a:prstGeom>
        </p:spPr>
      </p:pic>
    </p:spTree>
    <p:extLst>
      <p:ext uri="{BB962C8B-B14F-4D97-AF65-F5344CB8AC3E}">
        <p14:creationId xmlns:p14="http://schemas.microsoft.com/office/powerpoint/2010/main" val="822155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5036F-9993-4CC3-87FE-5503C840782E}"/>
              </a:ext>
            </a:extLst>
          </p:cNvPr>
          <p:cNvSpPr txBox="1"/>
          <p:nvPr/>
        </p:nvSpPr>
        <p:spPr>
          <a:xfrm>
            <a:off x="331304" y="464344"/>
            <a:ext cx="11767931" cy="4093428"/>
          </a:xfrm>
          <a:prstGeom prst="rect">
            <a:avLst/>
          </a:prstGeom>
          <a:noFill/>
        </p:spPr>
        <p:txBody>
          <a:bodyPr wrap="square" rtlCol="0">
            <a:spAutoFit/>
          </a:bodyPr>
          <a:lstStyle/>
          <a:p>
            <a:pPr algn="ctr"/>
            <a:r>
              <a:rPr lang="en-US" sz="2800" dirty="0">
                <a:latin typeface="Gill Sans MT" panose="020B0502020104020203" pitchFamily="34" charset="0"/>
              </a:rPr>
              <a:t>MYSQL INTEGRATION          </a:t>
            </a:r>
          </a:p>
          <a:p>
            <a:pPr algn="ctr"/>
            <a:endParaRPr lang="en-US" sz="2800" dirty="0">
              <a:latin typeface="Gill Sans MT" panose="020B0502020104020203" pitchFamily="34" charset="0"/>
            </a:endParaRPr>
          </a:p>
          <a:p>
            <a:pPr marL="285750" indent="-285750">
              <a:buFont typeface="Wingdings" panose="05000000000000000000" pitchFamily="2" charset="2"/>
              <a:buChar char="§"/>
            </a:pPr>
            <a:r>
              <a:rPr lang="en-US" sz="2800" dirty="0">
                <a:latin typeface="Gill Sans MT" panose="020B0502020104020203" pitchFamily="34" charset="0"/>
              </a:rPr>
              <a:t>Install the </a:t>
            </a:r>
            <a:r>
              <a:rPr lang="en-US" sz="2800" dirty="0" err="1">
                <a:latin typeface="Gill Sans MT" panose="020B0502020104020203" pitchFamily="34" charset="0"/>
              </a:rPr>
              <a:t>MySql</a:t>
            </a:r>
            <a:r>
              <a:rPr lang="en-US" sz="2800" dirty="0">
                <a:latin typeface="Gill Sans MT" panose="020B0502020104020203" pitchFamily="34" charset="0"/>
              </a:rPr>
              <a:t> workbench</a:t>
            </a:r>
          </a:p>
          <a:p>
            <a:pPr marL="285750" indent="-285750">
              <a:buFont typeface="Wingdings" panose="05000000000000000000" pitchFamily="2" charset="2"/>
              <a:buChar char="§"/>
            </a:pPr>
            <a:r>
              <a:rPr lang="en-US" sz="2800" dirty="0">
                <a:latin typeface="Gill Sans MT" panose="020B0502020104020203" pitchFamily="34" charset="0"/>
              </a:rPr>
              <a:t>Setup the environment and credentials for the </a:t>
            </a:r>
            <a:r>
              <a:rPr lang="en-US" sz="2800" dirty="0" err="1">
                <a:latin typeface="Gill Sans MT" panose="020B0502020104020203" pitchFamily="34" charset="0"/>
              </a:rPr>
              <a:t>Mysql</a:t>
            </a:r>
            <a:r>
              <a:rPr lang="en-US" sz="2800" dirty="0">
                <a:latin typeface="Gill Sans MT" panose="020B0502020104020203" pitchFamily="34" charset="0"/>
              </a:rPr>
              <a:t> database.</a:t>
            </a:r>
          </a:p>
          <a:p>
            <a:pPr marL="285750" indent="-285750">
              <a:buFont typeface="Wingdings" panose="05000000000000000000" pitchFamily="2" charset="2"/>
              <a:buChar char="§"/>
            </a:pPr>
            <a:r>
              <a:rPr lang="en-US" sz="2800" dirty="0">
                <a:latin typeface="Gill Sans MT" panose="020B0502020104020203" pitchFamily="34" charset="0"/>
              </a:rPr>
              <a:t>Create a database and import the primary and secondary data into the tables in the database.</a:t>
            </a:r>
          </a:p>
          <a:p>
            <a:pPr marL="285750" indent="-285750">
              <a:buFont typeface="Wingdings" panose="05000000000000000000" pitchFamily="2" charset="2"/>
              <a:buChar char="§"/>
            </a:pPr>
            <a:r>
              <a:rPr lang="en-US" sz="2800" dirty="0">
                <a:latin typeface="Gill Sans MT" panose="020B0502020104020203" pitchFamily="34" charset="0"/>
              </a:rPr>
              <a:t>The tables in the database can also be  generated by importing the data using python pymsql library and create_engine package</a:t>
            </a:r>
          </a:p>
          <a:p>
            <a:pPr marL="285750" indent="-285750">
              <a:buFont typeface="Wingdings" panose="05000000000000000000" pitchFamily="2" charset="2"/>
              <a:buChar char="§"/>
            </a:pPr>
            <a:endParaRPr lang="en-US" dirty="0"/>
          </a:p>
          <a:p>
            <a:pPr algn="ctr"/>
            <a:endParaRPr lang="en-IN" dirty="0"/>
          </a:p>
        </p:txBody>
      </p:sp>
      <p:pic>
        <p:nvPicPr>
          <p:cNvPr id="3" name="Picture 2">
            <a:extLst>
              <a:ext uri="{FF2B5EF4-FFF2-40B4-BE49-F238E27FC236}">
                <a16:creationId xmlns:a16="http://schemas.microsoft.com/office/drawing/2014/main" id="{DDF50B43-51D7-4176-B04C-D37FCED6DC97}"/>
              </a:ext>
            </a:extLst>
          </p:cNvPr>
          <p:cNvPicPr/>
          <p:nvPr/>
        </p:nvPicPr>
        <p:blipFill rotWithShape="1">
          <a:blip r:embed="rId2"/>
          <a:srcRect l="8207" t="16794" r="20347" b="19466"/>
          <a:stretch/>
        </p:blipFill>
        <p:spPr>
          <a:xfrm>
            <a:off x="1" y="4150267"/>
            <a:ext cx="3990996" cy="2707733"/>
          </a:xfrm>
          <a:prstGeom prst="rect">
            <a:avLst/>
          </a:prstGeom>
        </p:spPr>
      </p:pic>
      <p:pic>
        <p:nvPicPr>
          <p:cNvPr id="4" name="Picture 3">
            <a:extLst>
              <a:ext uri="{FF2B5EF4-FFF2-40B4-BE49-F238E27FC236}">
                <a16:creationId xmlns:a16="http://schemas.microsoft.com/office/drawing/2014/main" id="{D1A0A5E9-C6D4-4BE7-AD22-82A7B02610C2}"/>
              </a:ext>
            </a:extLst>
          </p:cNvPr>
          <p:cNvPicPr/>
          <p:nvPr/>
        </p:nvPicPr>
        <p:blipFill rotWithShape="1">
          <a:blip r:embed="rId3"/>
          <a:srcRect b="4853"/>
          <a:stretch/>
        </p:blipFill>
        <p:spPr>
          <a:xfrm>
            <a:off x="3990997" y="4041085"/>
            <a:ext cx="4174436" cy="2816915"/>
          </a:xfrm>
          <a:prstGeom prst="rect">
            <a:avLst/>
          </a:prstGeom>
        </p:spPr>
      </p:pic>
      <p:pic>
        <p:nvPicPr>
          <p:cNvPr id="5" name="Picture 4">
            <a:extLst>
              <a:ext uri="{FF2B5EF4-FFF2-40B4-BE49-F238E27FC236}">
                <a16:creationId xmlns:a16="http://schemas.microsoft.com/office/drawing/2014/main" id="{063AE13A-088D-437C-AB07-BE0CD3C3D282}"/>
              </a:ext>
            </a:extLst>
          </p:cNvPr>
          <p:cNvPicPr/>
          <p:nvPr/>
        </p:nvPicPr>
        <p:blipFill rotWithShape="1">
          <a:blip r:embed="rId4"/>
          <a:srcRect t="-1051" b="5972"/>
          <a:stretch/>
        </p:blipFill>
        <p:spPr>
          <a:xfrm>
            <a:off x="8165433" y="4041085"/>
            <a:ext cx="4026567" cy="2816915"/>
          </a:xfrm>
          <a:prstGeom prst="rect">
            <a:avLst/>
          </a:prstGeom>
        </p:spPr>
      </p:pic>
      <p:pic>
        <p:nvPicPr>
          <p:cNvPr id="7" name="Picture 6" descr="University of Hyderabad - Wikipedia">
            <a:extLst>
              <a:ext uri="{FF2B5EF4-FFF2-40B4-BE49-F238E27FC236}">
                <a16:creationId xmlns:a16="http://schemas.microsoft.com/office/drawing/2014/main" id="{051F71F9-B0F0-49F8-A81D-C7F9591E13CA}"/>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2880105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EEB492-54B2-4AA1-92AC-5117EF3BAF24}"/>
              </a:ext>
            </a:extLst>
          </p:cNvPr>
          <p:cNvSpPr txBox="1"/>
          <p:nvPr/>
        </p:nvSpPr>
        <p:spPr>
          <a:xfrm>
            <a:off x="122832" y="218364"/>
            <a:ext cx="11946338" cy="5262979"/>
          </a:xfrm>
          <a:prstGeom prst="rect">
            <a:avLst/>
          </a:prstGeom>
          <a:noFill/>
        </p:spPr>
        <p:txBody>
          <a:bodyPr wrap="square" rtlCol="0">
            <a:spAutoFit/>
          </a:bodyPr>
          <a:lstStyle/>
          <a:p>
            <a:pPr algn="ctr"/>
            <a:r>
              <a:rPr lang="en-US" sz="2400" dirty="0">
                <a:latin typeface="Gill Sans MT" panose="020B0502020104020203" pitchFamily="34" charset="0"/>
              </a:rPr>
              <a:t>Application and Logic Building                          </a:t>
            </a:r>
          </a:p>
          <a:p>
            <a:pPr algn="just"/>
            <a:endParaRPr lang="en-US" sz="2400" dirty="0">
              <a:latin typeface="Gill Sans MT" panose="020B0502020104020203" pitchFamily="34" charset="0"/>
            </a:endParaRPr>
          </a:p>
          <a:p>
            <a:pPr marL="285750" indent="-285750" algn="just">
              <a:buFont typeface="Arial" panose="020B0604020202020204" pitchFamily="34" charset="0"/>
              <a:buChar char="•"/>
            </a:pPr>
            <a:r>
              <a:rPr lang="en-US" sz="2400" dirty="0">
                <a:latin typeface="Gill Sans MT" panose="020B0502020104020203" pitchFamily="34" charset="0"/>
              </a:rPr>
              <a:t>Building the dashboard HTML framework with the container, classes, div tags. Establish the connection between CSS &amp; JS.</a:t>
            </a:r>
          </a:p>
          <a:p>
            <a:pPr marL="285750" indent="-285750" algn="just">
              <a:buFont typeface="Arial" panose="020B0604020202020204" pitchFamily="34" charset="0"/>
              <a:buChar char="•"/>
            </a:pPr>
            <a:r>
              <a:rPr lang="en-US" sz="2400" dirty="0">
                <a:latin typeface="Gill Sans MT" panose="020B0502020104020203" pitchFamily="34" charset="0"/>
              </a:rPr>
              <a:t>In the JS define the HTML elements, functions, logic for the data fetching, data filter, date picker, update button, top cards, creating charts, dataplugins, random colors, update charts, with the all the necessary event  listeners.</a:t>
            </a:r>
          </a:p>
          <a:p>
            <a:pPr marL="285750" indent="-285750" algn="just">
              <a:buFont typeface="Arial" panose="020B0604020202020204" pitchFamily="34" charset="0"/>
              <a:buChar char="•"/>
            </a:pPr>
            <a:r>
              <a:rPr lang="en-US" sz="2400" dirty="0">
                <a:latin typeface="Gill Sans MT" panose="020B0502020104020203" pitchFamily="34" charset="0"/>
              </a:rPr>
              <a:t>In the CSS, create the styles for the dashboard. Update the font size, dashboard body color, background color, button color, container size, card size </a:t>
            </a:r>
            <a:r>
              <a:rPr lang="en-US" sz="2400" dirty="0" err="1">
                <a:latin typeface="Gill Sans MT" panose="020B0502020104020203" pitchFamily="34" charset="0"/>
              </a:rPr>
              <a:t>etc</a:t>
            </a:r>
            <a:endParaRPr lang="en-US" sz="2400" dirty="0">
              <a:latin typeface="Gill Sans MT" panose="020B0502020104020203" pitchFamily="34" charset="0"/>
            </a:endParaRPr>
          </a:p>
          <a:p>
            <a:pPr marL="285750" indent="-285750" algn="just">
              <a:buFont typeface="Arial" panose="020B0604020202020204" pitchFamily="34" charset="0"/>
              <a:buChar char="•"/>
            </a:pPr>
            <a:endParaRPr lang="en-US" sz="2400" dirty="0">
              <a:latin typeface="Gill Sans MT" panose="020B0502020104020203" pitchFamily="34" charset="0"/>
            </a:endParaRPr>
          </a:p>
          <a:p>
            <a:pPr marL="285750" indent="-285750" algn="just">
              <a:buFont typeface="Arial" panose="020B0604020202020204" pitchFamily="34" charset="0"/>
              <a:buChar char="•"/>
            </a:pPr>
            <a:endParaRPr lang="en-US" sz="2400" dirty="0">
              <a:latin typeface="Gill Sans MT" panose="020B0502020104020203" pitchFamily="34" charset="0"/>
            </a:endParaRPr>
          </a:p>
          <a:p>
            <a:endParaRPr lang="en-US" dirty="0"/>
          </a:p>
          <a:p>
            <a:endParaRPr lang="en-US" dirty="0"/>
          </a:p>
          <a:p>
            <a:pPr marL="285750" indent="-285750">
              <a:buFont typeface="Arial" panose="020B0604020202020204" pitchFamily="34" charset="0"/>
              <a:buChar char="•"/>
            </a:pPr>
            <a:endParaRPr lang="en-US" dirty="0"/>
          </a:p>
          <a:p>
            <a:pPr algn="ctr"/>
            <a:endParaRPr lang="en-IN" dirty="0"/>
          </a:p>
        </p:txBody>
      </p:sp>
      <p:pic>
        <p:nvPicPr>
          <p:cNvPr id="5" name="Picture 4">
            <a:extLst>
              <a:ext uri="{FF2B5EF4-FFF2-40B4-BE49-F238E27FC236}">
                <a16:creationId xmlns:a16="http://schemas.microsoft.com/office/drawing/2014/main" id="{55CA085F-C76C-4163-985A-C5D24A4ABC1E}"/>
              </a:ext>
            </a:extLst>
          </p:cNvPr>
          <p:cNvPicPr>
            <a:picLocks noChangeAspect="1"/>
          </p:cNvPicPr>
          <p:nvPr/>
        </p:nvPicPr>
        <p:blipFill rotWithShape="1">
          <a:blip r:embed="rId2"/>
          <a:srcRect t="9471" b="5447"/>
          <a:stretch/>
        </p:blipFill>
        <p:spPr>
          <a:xfrm>
            <a:off x="0" y="3533003"/>
            <a:ext cx="5663821" cy="3324997"/>
          </a:xfrm>
          <a:prstGeom prst="rect">
            <a:avLst/>
          </a:prstGeom>
        </p:spPr>
      </p:pic>
      <p:pic>
        <p:nvPicPr>
          <p:cNvPr id="7" name="Picture 6">
            <a:extLst>
              <a:ext uri="{FF2B5EF4-FFF2-40B4-BE49-F238E27FC236}">
                <a16:creationId xmlns:a16="http://schemas.microsoft.com/office/drawing/2014/main" id="{6FECF242-FF8D-4733-85B6-9132A6A62A0E}"/>
              </a:ext>
            </a:extLst>
          </p:cNvPr>
          <p:cNvPicPr>
            <a:picLocks noChangeAspect="1"/>
          </p:cNvPicPr>
          <p:nvPr/>
        </p:nvPicPr>
        <p:blipFill rotWithShape="1">
          <a:blip r:embed="rId3"/>
          <a:srcRect t="6517" b="4082"/>
          <a:stretch/>
        </p:blipFill>
        <p:spPr>
          <a:xfrm>
            <a:off x="5504596" y="3751367"/>
            <a:ext cx="6564573" cy="3106633"/>
          </a:xfrm>
          <a:prstGeom prst="rect">
            <a:avLst/>
          </a:prstGeom>
        </p:spPr>
      </p:pic>
      <p:pic>
        <p:nvPicPr>
          <p:cNvPr id="6" name="Picture 5" descr="University of Hyderabad - Wikipedia">
            <a:extLst>
              <a:ext uri="{FF2B5EF4-FFF2-40B4-BE49-F238E27FC236}">
                <a16:creationId xmlns:a16="http://schemas.microsoft.com/office/drawing/2014/main" id="{21D62021-4EAB-4A24-AA11-9A34083DF53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641496" y="0"/>
            <a:ext cx="1272208" cy="1033671"/>
          </a:xfrm>
          <a:prstGeom prst="rect">
            <a:avLst/>
          </a:prstGeom>
          <a:noFill/>
          <a:ln>
            <a:noFill/>
          </a:ln>
        </p:spPr>
      </p:pic>
    </p:spTree>
    <p:extLst>
      <p:ext uri="{BB962C8B-B14F-4D97-AF65-F5344CB8AC3E}">
        <p14:creationId xmlns:p14="http://schemas.microsoft.com/office/powerpoint/2010/main" val="2815312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644395-4D46-41AD-9CFD-2B635B6414F3}"/>
              </a:ext>
            </a:extLst>
          </p:cNvPr>
          <p:cNvSpPr txBox="1"/>
          <p:nvPr/>
        </p:nvSpPr>
        <p:spPr>
          <a:xfrm>
            <a:off x="518615" y="286603"/>
            <a:ext cx="11218460" cy="6924973"/>
          </a:xfrm>
          <a:prstGeom prst="rect">
            <a:avLst/>
          </a:prstGeom>
          <a:noFill/>
        </p:spPr>
        <p:txBody>
          <a:bodyPr wrap="square" rtlCol="0">
            <a:spAutoFit/>
          </a:bodyPr>
          <a:lstStyle/>
          <a:p>
            <a:pPr algn="ctr"/>
            <a:r>
              <a:rPr lang="en-US" sz="2800" dirty="0">
                <a:latin typeface="Gill Sans MT" panose="020B0502020104020203" pitchFamily="34" charset="0"/>
              </a:rPr>
              <a:t>Challenges Faced                </a:t>
            </a:r>
          </a:p>
          <a:p>
            <a:pPr algn="ctr"/>
            <a:endParaRPr lang="en-US" sz="2800" dirty="0">
              <a:latin typeface="Gill Sans MT" panose="020B0502020104020203" pitchFamily="34" charset="0"/>
            </a:endParaRPr>
          </a:p>
          <a:p>
            <a:pPr marL="285750" indent="-285750">
              <a:buFont typeface="Wingdings" panose="05000000000000000000" pitchFamily="2" charset="2"/>
              <a:buChar char="§"/>
            </a:pPr>
            <a:r>
              <a:rPr lang="en-IN" sz="2800" dirty="0">
                <a:latin typeface="Gill Sans MT" panose="020B0502020104020203" pitchFamily="34" charset="0"/>
              </a:rPr>
              <a:t>Date picker and </a:t>
            </a:r>
            <a:r>
              <a:rPr lang="en-IN" sz="2800" dirty="0" err="1">
                <a:latin typeface="Gill Sans MT" panose="020B0502020104020203" pitchFamily="34" charset="0"/>
              </a:rPr>
              <a:t>calander</a:t>
            </a:r>
            <a:r>
              <a:rPr lang="en-IN" sz="2800" dirty="0">
                <a:latin typeface="Gill Sans MT" panose="020B0502020104020203" pitchFamily="34" charset="0"/>
              </a:rPr>
              <a:t> integration</a:t>
            </a:r>
          </a:p>
          <a:p>
            <a:pPr marL="285750" indent="-285750">
              <a:buFont typeface="Wingdings" panose="05000000000000000000" pitchFamily="2" charset="2"/>
              <a:buChar char="§"/>
            </a:pPr>
            <a:r>
              <a:rPr lang="en-IN" sz="2800" dirty="0">
                <a:latin typeface="Gill Sans MT" panose="020B0502020104020203" pitchFamily="34" charset="0"/>
              </a:rPr>
              <a:t>MYSQL database integration</a:t>
            </a:r>
          </a:p>
          <a:p>
            <a:pPr marL="285750" indent="-285750">
              <a:buFont typeface="Wingdings" panose="05000000000000000000" pitchFamily="2" charset="2"/>
              <a:buChar char="§"/>
            </a:pPr>
            <a:r>
              <a:rPr lang="en-IN" sz="2800" dirty="0">
                <a:latin typeface="Gill Sans MT" panose="020B0502020104020203" pitchFamily="34" charset="0"/>
              </a:rPr>
              <a:t>Including new java script functions with adjustments and corrections</a:t>
            </a:r>
          </a:p>
          <a:p>
            <a:pPr marL="285750" indent="-285750">
              <a:buFont typeface="Wingdings" panose="05000000000000000000" pitchFamily="2" charset="2"/>
              <a:buChar char="§"/>
            </a:pPr>
            <a:r>
              <a:rPr lang="en-IN" sz="2800" dirty="0">
                <a:latin typeface="Gill Sans MT" panose="020B0502020104020203" pitchFamily="34" charset="0"/>
              </a:rPr>
              <a:t>Error detection and corrections</a:t>
            </a:r>
          </a:p>
          <a:p>
            <a:pPr marL="285750" indent="-285750">
              <a:buFont typeface="Wingdings" panose="05000000000000000000" pitchFamily="2" charset="2"/>
              <a:buChar char="§"/>
            </a:pPr>
            <a:r>
              <a:rPr lang="en-IN" sz="2800" dirty="0">
                <a:latin typeface="Gill Sans MT" panose="020B0502020104020203" pitchFamily="34" charset="0"/>
              </a:rPr>
              <a:t>Datatype challenges with date and sales.</a:t>
            </a:r>
          </a:p>
          <a:p>
            <a:pPr marL="285750" indent="-285750">
              <a:buFont typeface="Wingdings" panose="05000000000000000000" pitchFamily="2" charset="2"/>
              <a:buChar char="§"/>
            </a:pPr>
            <a:r>
              <a:rPr lang="en-IN" sz="2800" dirty="0">
                <a:latin typeface="Gill Sans MT" panose="020B0502020104020203" pitchFamily="34" charset="0"/>
              </a:rPr>
              <a:t>Initial challenges such as building a basic prototype.</a:t>
            </a:r>
          </a:p>
          <a:p>
            <a:pPr marL="285750" indent="-285750">
              <a:buFont typeface="Wingdings" panose="05000000000000000000" pitchFamily="2" charset="2"/>
              <a:buChar char="§"/>
            </a:pPr>
            <a:endParaRPr lang="en-IN" sz="2800" dirty="0">
              <a:latin typeface="Gill Sans MT" panose="020B0502020104020203" pitchFamily="34" charset="0"/>
            </a:endParaRPr>
          </a:p>
          <a:p>
            <a:r>
              <a:rPr lang="en-IN" sz="2800" dirty="0">
                <a:latin typeface="Gill Sans MT" panose="020B0502020104020203" pitchFamily="34" charset="0"/>
              </a:rPr>
              <a:t>Future Scope: The project can be enhanced for adding more different charts,</a:t>
            </a:r>
          </a:p>
          <a:p>
            <a:r>
              <a:rPr lang="en-IN" sz="2800" dirty="0">
                <a:latin typeface="Gill Sans MT" panose="020B0502020104020203" pitchFamily="34" charset="0"/>
              </a:rPr>
              <a:t>Appealing visuals using CSS, Integrate with python, utilize the dashboard for other sales business with some changes etc.</a:t>
            </a:r>
          </a:p>
          <a:p>
            <a:pPr marL="285750" indent="-285750">
              <a:buFont typeface="Wingdings" panose="05000000000000000000" pitchFamily="2" charset="2"/>
              <a:buChar char="§"/>
            </a:pPr>
            <a:endParaRPr lang="en-IN" sz="2400" dirty="0">
              <a:latin typeface="Gill Sans MT" panose="020B0502020104020203" pitchFamily="34" charset="0"/>
            </a:endParaRPr>
          </a:p>
          <a:p>
            <a:pPr marL="285750" indent="-285750">
              <a:buFont typeface="Wingdings" panose="05000000000000000000" pitchFamily="2" charset="2"/>
              <a:buChar char="§"/>
            </a:pPr>
            <a:endParaRPr lang="en-IN" sz="2400" dirty="0">
              <a:latin typeface="Gill Sans MT" panose="020B0502020104020203" pitchFamily="34" charset="0"/>
            </a:endParaRPr>
          </a:p>
          <a:p>
            <a:endParaRPr lang="en-IN" sz="2400" dirty="0">
              <a:latin typeface="Gill Sans MT" panose="020B0502020104020203" pitchFamily="34" charset="0"/>
            </a:endParaRP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endParaRPr lang="en-IN" dirty="0"/>
          </a:p>
        </p:txBody>
      </p:sp>
      <p:pic>
        <p:nvPicPr>
          <p:cNvPr id="4" name="Picture 3" descr="University of Hyderabad - Wikipedia">
            <a:extLst>
              <a:ext uri="{FF2B5EF4-FFF2-40B4-BE49-F238E27FC236}">
                <a16:creationId xmlns:a16="http://schemas.microsoft.com/office/drawing/2014/main" id="{C836BD97-5420-4D00-8693-0FA3F0EE509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1745379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8F7822-C07C-4DCD-8A3D-D932ECBA1EE3}"/>
              </a:ext>
            </a:extLst>
          </p:cNvPr>
          <p:cNvSpPr txBox="1"/>
          <p:nvPr/>
        </p:nvSpPr>
        <p:spPr>
          <a:xfrm>
            <a:off x="218364" y="177421"/>
            <a:ext cx="11750723" cy="830997"/>
          </a:xfrm>
          <a:prstGeom prst="rect">
            <a:avLst/>
          </a:prstGeom>
          <a:noFill/>
        </p:spPr>
        <p:txBody>
          <a:bodyPr wrap="square" rtlCol="0">
            <a:spAutoFit/>
          </a:bodyPr>
          <a:lstStyle/>
          <a:p>
            <a:pPr algn="ctr"/>
            <a:endParaRPr lang="en-US" sz="2400" b="1" dirty="0">
              <a:latin typeface="Gill Sans MT" panose="020B0502020104020203" pitchFamily="34" charset="0"/>
            </a:endParaRPr>
          </a:p>
          <a:p>
            <a:endParaRPr lang="en-IN" sz="2400" b="1" dirty="0">
              <a:latin typeface="Gill Sans MT" panose="020B0502020104020203" pitchFamily="34" charset="0"/>
            </a:endParaRPr>
          </a:p>
        </p:txBody>
      </p:sp>
      <p:pic>
        <p:nvPicPr>
          <p:cNvPr id="6" name="Picture 5">
            <a:extLst>
              <a:ext uri="{FF2B5EF4-FFF2-40B4-BE49-F238E27FC236}">
                <a16:creationId xmlns:a16="http://schemas.microsoft.com/office/drawing/2014/main" id="{F0D4D4E3-DC41-49AD-A65D-794F1A5D6BF5}"/>
              </a:ext>
            </a:extLst>
          </p:cNvPr>
          <p:cNvPicPr>
            <a:picLocks noChangeAspect="1"/>
          </p:cNvPicPr>
          <p:nvPr/>
        </p:nvPicPr>
        <p:blipFill rotWithShape="1">
          <a:blip r:embed="rId2"/>
          <a:srcRect t="13430" b="24791"/>
          <a:stretch/>
        </p:blipFill>
        <p:spPr>
          <a:xfrm>
            <a:off x="0" y="0"/>
            <a:ext cx="12192000" cy="6858000"/>
          </a:xfrm>
          <a:prstGeom prst="rect">
            <a:avLst/>
          </a:prstGeom>
        </p:spPr>
      </p:pic>
      <p:pic>
        <p:nvPicPr>
          <p:cNvPr id="5" name="Picture 4" descr="University of Hyderabad - Wikipedia">
            <a:extLst>
              <a:ext uri="{FF2B5EF4-FFF2-40B4-BE49-F238E27FC236}">
                <a16:creationId xmlns:a16="http://schemas.microsoft.com/office/drawing/2014/main" id="{6D3C02EA-EFEE-4AE7-A23F-ADAE4A4288C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61983" y="357806"/>
            <a:ext cx="1272208" cy="1033671"/>
          </a:xfrm>
          <a:prstGeom prst="rect">
            <a:avLst/>
          </a:prstGeom>
          <a:noFill/>
          <a:ln>
            <a:noFill/>
          </a:ln>
        </p:spPr>
      </p:pic>
    </p:spTree>
    <p:extLst>
      <p:ext uri="{BB962C8B-B14F-4D97-AF65-F5344CB8AC3E}">
        <p14:creationId xmlns:p14="http://schemas.microsoft.com/office/powerpoint/2010/main" val="2938081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08745E-9D95-4B7B-B251-DD7B8B5B492F}"/>
              </a:ext>
            </a:extLst>
          </p:cNvPr>
          <p:cNvPicPr>
            <a:picLocks noChangeAspect="1"/>
          </p:cNvPicPr>
          <p:nvPr/>
        </p:nvPicPr>
        <p:blipFill rotWithShape="1">
          <a:blip r:embed="rId2"/>
          <a:srcRect l="5709" t="13914" r="7202" b="8636"/>
          <a:stretch/>
        </p:blipFill>
        <p:spPr>
          <a:xfrm>
            <a:off x="0" y="0"/>
            <a:ext cx="12192000" cy="6857999"/>
          </a:xfrm>
          <a:prstGeom prst="rect">
            <a:avLst/>
          </a:prstGeom>
        </p:spPr>
      </p:pic>
      <p:pic>
        <p:nvPicPr>
          <p:cNvPr id="5" name="Picture 4" descr="University of Hyderabad - Wikipedia">
            <a:extLst>
              <a:ext uri="{FF2B5EF4-FFF2-40B4-BE49-F238E27FC236}">
                <a16:creationId xmlns:a16="http://schemas.microsoft.com/office/drawing/2014/main" id="{4405620A-3AD0-40A0-A2FC-FB13CC11864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14991" y="238537"/>
            <a:ext cx="1232452" cy="1046924"/>
          </a:xfrm>
          <a:prstGeom prst="rect">
            <a:avLst/>
          </a:prstGeom>
          <a:noFill/>
          <a:ln>
            <a:noFill/>
          </a:ln>
        </p:spPr>
      </p:pic>
    </p:spTree>
    <p:extLst>
      <p:ext uri="{BB962C8B-B14F-4D97-AF65-F5344CB8AC3E}">
        <p14:creationId xmlns:p14="http://schemas.microsoft.com/office/powerpoint/2010/main" val="634167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96502-CC65-4F4D-B08D-F7DE8B67C86F}"/>
              </a:ext>
            </a:extLst>
          </p:cNvPr>
          <p:cNvPicPr>
            <a:picLocks noChangeAspect="1"/>
          </p:cNvPicPr>
          <p:nvPr/>
        </p:nvPicPr>
        <p:blipFill rotWithShape="1">
          <a:blip r:embed="rId2"/>
          <a:srcRect l="5820" t="17098" r="6866" b="17198"/>
          <a:stretch/>
        </p:blipFill>
        <p:spPr>
          <a:xfrm>
            <a:off x="0" y="0"/>
            <a:ext cx="12192000" cy="6858000"/>
          </a:xfrm>
          <a:prstGeom prst="rect">
            <a:avLst/>
          </a:prstGeom>
        </p:spPr>
      </p:pic>
      <p:pic>
        <p:nvPicPr>
          <p:cNvPr id="5" name="Picture 4" descr="University of Hyderabad - Wikipedia">
            <a:extLst>
              <a:ext uri="{FF2B5EF4-FFF2-40B4-BE49-F238E27FC236}">
                <a16:creationId xmlns:a16="http://schemas.microsoft.com/office/drawing/2014/main" id="{339B60DD-1002-4B77-A9DF-450236BE470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211339" y="463824"/>
            <a:ext cx="834888" cy="622854"/>
          </a:xfrm>
          <a:prstGeom prst="rect">
            <a:avLst/>
          </a:prstGeom>
          <a:noFill/>
          <a:ln>
            <a:noFill/>
          </a:ln>
        </p:spPr>
      </p:pic>
    </p:spTree>
    <p:extLst>
      <p:ext uri="{BB962C8B-B14F-4D97-AF65-F5344CB8AC3E}">
        <p14:creationId xmlns:p14="http://schemas.microsoft.com/office/powerpoint/2010/main" val="1777018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FE5404-BFDE-4115-8DE7-544B0E43EC5E}"/>
              </a:ext>
            </a:extLst>
          </p:cNvPr>
          <p:cNvPicPr>
            <a:picLocks noChangeAspect="1"/>
          </p:cNvPicPr>
          <p:nvPr/>
        </p:nvPicPr>
        <p:blipFill rotWithShape="1">
          <a:blip r:embed="rId2"/>
          <a:srcRect l="4702" t="17297" r="5969" b="17596"/>
          <a:stretch/>
        </p:blipFill>
        <p:spPr>
          <a:xfrm>
            <a:off x="0" y="0"/>
            <a:ext cx="12192000" cy="6858000"/>
          </a:xfrm>
          <a:prstGeom prst="rect">
            <a:avLst/>
          </a:prstGeom>
        </p:spPr>
      </p:pic>
      <p:pic>
        <p:nvPicPr>
          <p:cNvPr id="5" name="Picture 4" descr="University of Hyderabad - Wikipedia">
            <a:extLst>
              <a:ext uri="{FF2B5EF4-FFF2-40B4-BE49-F238E27FC236}">
                <a16:creationId xmlns:a16="http://schemas.microsoft.com/office/drawing/2014/main" id="{61B5F361-0EE2-48F4-AB16-A09ABABD6A8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105321" y="384313"/>
            <a:ext cx="808383" cy="742122"/>
          </a:xfrm>
          <a:prstGeom prst="rect">
            <a:avLst/>
          </a:prstGeom>
          <a:noFill/>
          <a:ln>
            <a:noFill/>
          </a:ln>
        </p:spPr>
      </p:pic>
    </p:spTree>
    <p:extLst>
      <p:ext uri="{BB962C8B-B14F-4D97-AF65-F5344CB8AC3E}">
        <p14:creationId xmlns:p14="http://schemas.microsoft.com/office/powerpoint/2010/main" val="3394988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156B97-C86E-40EA-AC6D-490F01CD8695}"/>
              </a:ext>
            </a:extLst>
          </p:cNvPr>
          <p:cNvPicPr>
            <a:picLocks noChangeAspect="1"/>
          </p:cNvPicPr>
          <p:nvPr/>
        </p:nvPicPr>
        <p:blipFill rotWithShape="1">
          <a:blip r:embed="rId2"/>
          <a:srcRect l="5373" t="14709" r="6082" b="10827"/>
          <a:stretch/>
        </p:blipFill>
        <p:spPr>
          <a:xfrm>
            <a:off x="0" y="0"/>
            <a:ext cx="12192000" cy="6858000"/>
          </a:xfrm>
          <a:prstGeom prst="rect">
            <a:avLst/>
          </a:prstGeom>
        </p:spPr>
      </p:pic>
      <p:pic>
        <p:nvPicPr>
          <p:cNvPr id="5" name="Picture 4" descr="University of Hyderabad - Wikipedia">
            <a:extLst>
              <a:ext uri="{FF2B5EF4-FFF2-40B4-BE49-F238E27FC236}">
                <a16:creationId xmlns:a16="http://schemas.microsoft.com/office/drawing/2014/main" id="{501B436C-D020-45AD-9865-B8673E4EF6D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853530" y="371060"/>
            <a:ext cx="1073427" cy="874643"/>
          </a:xfrm>
          <a:prstGeom prst="rect">
            <a:avLst/>
          </a:prstGeom>
          <a:noFill/>
          <a:ln>
            <a:noFill/>
          </a:ln>
        </p:spPr>
      </p:pic>
    </p:spTree>
    <p:extLst>
      <p:ext uri="{BB962C8B-B14F-4D97-AF65-F5344CB8AC3E}">
        <p14:creationId xmlns:p14="http://schemas.microsoft.com/office/powerpoint/2010/main" val="346013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A5450-554D-43A1-996F-5AFCB1C5230B}"/>
              </a:ext>
            </a:extLst>
          </p:cNvPr>
          <p:cNvPicPr>
            <a:picLocks noChangeAspect="1"/>
          </p:cNvPicPr>
          <p:nvPr/>
        </p:nvPicPr>
        <p:blipFill rotWithShape="1">
          <a:blip r:embed="rId2"/>
          <a:srcRect l="4925" t="24465" r="6418" b="8836"/>
          <a:stretch/>
        </p:blipFill>
        <p:spPr>
          <a:xfrm>
            <a:off x="0" y="0"/>
            <a:ext cx="12192000" cy="6858000"/>
          </a:xfrm>
          <a:prstGeom prst="rect">
            <a:avLst/>
          </a:prstGeom>
        </p:spPr>
      </p:pic>
      <p:pic>
        <p:nvPicPr>
          <p:cNvPr id="5" name="Picture 4" descr="University of Hyderabad - Wikipedia">
            <a:extLst>
              <a:ext uri="{FF2B5EF4-FFF2-40B4-BE49-F238E27FC236}">
                <a16:creationId xmlns:a16="http://schemas.microsoft.com/office/drawing/2014/main" id="{B22B1832-2E5E-4FF9-BCFA-171356034A1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158331" y="172277"/>
            <a:ext cx="821634" cy="596349"/>
          </a:xfrm>
          <a:prstGeom prst="rect">
            <a:avLst/>
          </a:prstGeom>
          <a:noFill/>
          <a:ln>
            <a:noFill/>
          </a:ln>
        </p:spPr>
      </p:pic>
    </p:spTree>
    <p:extLst>
      <p:ext uri="{BB962C8B-B14F-4D97-AF65-F5344CB8AC3E}">
        <p14:creationId xmlns:p14="http://schemas.microsoft.com/office/powerpoint/2010/main" val="360071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4B60F5-DF75-4275-BDF3-C07F8E678444}"/>
              </a:ext>
            </a:extLst>
          </p:cNvPr>
          <p:cNvSpPr txBox="1"/>
          <p:nvPr/>
        </p:nvSpPr>
        <p:spPr>
          <a:xfrm>
            <a:off x="0" y="199178"/>
            <a:ext cx="12032974" cy="6426888"/>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SCOPE AND LIMITATIONS</a:t>
            </a:r>
          </a:p>
          <a:p>
            <a:pPr algn="just">
              <a:lnSpc>
                <a:spcPct val="115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Scope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AutoNum type="arabicParenR"/>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The dashboards built using HTML, CSS, JS are highly customizable, interactive, and visually appealing where the developer can design the dynamic user interfaces with responsive layouts for business needs.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2) These dashboards allow the users for real-time data visualization and allows for further integration with the real-time sales updates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3) Using JavaScript, data from the databases like MYSQL, PostgreSQL, or MongoDB can be easily fetched using server-side languages like (</a:t>
            </a:r>
            <a:r>
              <a:rPr lang="en-IN" sz="2400" kern="100" dirty="0" err="1">
                <a:effectLst/>
                <a:latin typeface="Times New Roman" panose="02020603050405020304" pitchFamily="18" charset="0"/>
                <a:ea typeface="Calibri" panose="020F0502020204030204" pitchFamily="34" charset="0"/>
                <a:cs typeface="Times New Roman" panose="02020603050405020304" pitchFamily="18" charset="0"/>
              </a:rPr>
              <a:t>Node.Js</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This makes it easier to track the sales trends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14978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FED4BD-69E5-452C-AAC2-4FE010BDFBF7}"/>
              </a:ext>
            </a:extLst>
          </p:cNvPr>
          <p:cNvSpPr txBox="1"/>
          <p:nvPr/>
        </p:nvSpPr>
        <p:spPr>
          <a:xfrm>
            <a:off x="397565" y="503583"/>
            <a:ext cx="11582399" cy="3452548"/>
          </a:xfrm>
          <a:prstGeom prst="rect">
            <a:avLst/>
          </a:prstGeom>
          <a:noFill/>
        </p:spPr>
        <p:txBody>
          <a:bodyPr wrap="square">
            <a:spAutoFit/>
          </a:bodyPr>
          <a:lstStyle/>
          <a:p>
            <a:pPr algn="just">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of Sales Dashboards: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arenR"/>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JavaScript being a client-side language, may lead to performance bottlenecks handling large datasets. This creates client side processing limitations.</a:t>
            </a:r>
          </a:p>
          <a:p>
            <a:pPr marL="342900" lvl="0" indent="-342900" algn="just">
              <a:lnSpc>
                <a:spcPct val="150000"/>
              </a:lnSpc>
              <a:buFont typeface="+mj-lt"/>
              <a:buAutoNum type="arabicParenR"/>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Storing sensitive sales data can raise the security concerns and scope of data breaches.</a:t>
            </a:r>
          </a:p>
          <a:p>
            <a:pPr marL="342900" lvl="0" indent="-342900" algn="just">
              <a:lnSpc>
                <a:spcPct val="150000"/>
              </a:lnSpc>
              <a:spcAft>
                <a:spcPts val="800"/>
              </a:spcAft>
              <a:buFont typeface="+mj-lt"/>
              <a:buAutoNum type="arabicParenR"/>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The performance of client-side dashboards may degrade because of handling complex queries, and large datasets. This creates scalability issues.</a:t>
            </a:r>
          </a:p>
        </p:txBody>
      </p:sp>
    </p:spTree>
    <p:extLst>
      <p:ext uri="{BB962C8B-B14F-4D97-AF65-F5344CB8AC3E}">
        <p14:creationId xmlns:p14="http://schemas.microsoft.com/office/powerpoint/2010/main" val="1299001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1FC50E-8852-4E29-91F7-FD1F91428A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3097" y="254188"/>
            <a:ext cx="7165806" cy="5532461"/>
          </a:xfrm>
          <a:prstGeom prst="rect">
            <a:avLst/>
          </a:prstGeom>
        </p:spPr>
      </p:pic>
      <p:pic>
        <p:nvPicPr>
          <p:cNvPr id="5" name="Picture 4" descr="University of Hyderabad - Wikipedia">
            <a:extLst>
              <a:ext uri="{FF2B5EF4-FFF2-40B4-BE49-F238E27FC236}">
                <a16:creationId xmlns:a16="http://schemas.microsoft.com/office/drawing/2014/main" id="{6CCFE74F-5AEC-4513-915A-E42C821A9B9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75235" y="238537"/>
            <a:ext cx="1272208" cy="1033671"/>
          </a:xfrm>
          <a:prstGeom prst="rect">
            <a:avLst/>
          </a:prstGeom>
          <a:noFill/>
          <a:ln>
            <a:noFill/>
          </a:ln>
        </p:spPr>
      </p:pic>
    </p:spTree>
    <p:extLst>
      <p:ext uri="{BB962C8B-B14F-4D97-AF65-F5344CB8AC3E}">
        <p14:creationId xmlns:p14="http://schemas.microsoft.com/office/powerpoint/2010/main" val="2129297784"/>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475</TotalTime>
  <Words>801</Words>
  <Application>Microsoft Office PowerPoint</Application>
  <PresentationFormat>Widescreen</PresentationFormat>
  <Paragraphs>109</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Gill Sans MT</vt:lpstr>
      <vt:lpstr>Times New Roman</vt:lpstr>
      <vt:lpstr>Tw Cen MT</vt:lpstr>
      <vt:lpstr>Wingdings</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 Kumar Nallikala</dc:creator>
  <cp:lastModifiedBy>Nithin Kumar Nallikala</cp:lastModifiedBy>
  <cp:revision>42</cp:revision>
  <dcterms:created xsi:type="dcterms:W3CDTF">2024-07-13T05:57:54Z</dcterms:created>
  <dcterms:modified xsi:type="dcterms:W3CDTF">2025-11-23T16:43:13Z</dcterms:modified>
</cp:coreProperties>
</file>